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3380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1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371600"/>
            <a:ext cx="3840480" cy="3840480"/>
          </a:xfrm>
          <a:prstGeom prst="ellipse">
            <a:avLst/>
          </a:prstGeom>
          <a:solidFill>
            <a:srgbClr val="274C68"/>
          </a:solidFill>
          <a:ln/>
        </p:spPr>
      </p:sp>
      <p:sp>
        <p:nvSpPr>
          <p:cNvPr id="3" name="Shape 1"/>
          <p:cNvSpPr/>
          <p:nvPr/>
        </p:nvSpPr>
        <p:spPr>
          <a:xfrm>
            <a:off x="11704320" y="4114800"/>
            <a:ext cx="3108960" cy="3108960"/>
          </a:xfrm>
          <a:prstGeom prst="ellipse">
            <a:avLst/>
          </a:prstGeom>
          <a:solidFill>
            <a:srgbClr val="274C6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55080"/>
            <a:ext cx="12191695" cy="109728"/>
          </a:xfrm>
          <a:prstGeom prst="rect">
            <a:avLst/>
          </a:prstGeom>
          <a:solidFill>
            <a:srgbClr val="F293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9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ระบบติดตามการใช้งานไดร์  ·  Die Tracking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6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รู้ความเคลื่อนไหวของไดร์รายวัน</a:t>
            </a: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th-TH" sz="3600" b="1" dirty="0">
              <a:solidFill>
                <a:srgbClr val="FFFFFF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th-TH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รวม</a:t>
            </a:r>
            <a:r>
              <a:rPr lang="en-US" sz="36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ถึ</a:t>
            </a:r>
            <a:r>
              <a:rPr lang="th-TH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งตามติดตาม</a:t>
            </a:r>
            <a:r>
              <a:rPr lang="en-US" sz="36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ปัญหา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41248" y="5029200"/>
            <a:ext cx="2633472" cy="502920"/>
          </a:xfrm>
          <a:prstGeom prst="roundRect">
            <a:avLst>
              <a:gd name="adj" fmla="val 49091"/>
            </a:avLst>
          </a:prstGeom>
          <a:solidFill>
            <a:srgbClr val="274C68"/>
          </a:solidFill>
          <a:ln w="12700">
            <a:solidFill>
              <a:srgbClr val="F29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5029200"/>
            <a:ext cx="26334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เบิกไดร์รายวัน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75888" y="5029200"/>
            <a:ext cx="2944368" cy="502920"/>
          </a:xfrm>
          <a:prstGeom prst="roundRect">
            <a:avLst>
              <a:gd name="adj" fmla="val 49091"/>
            </a:avLst>
          </a:prstGeom>
          <a:solidFill>
            <a:srgbClr val="274C68"/>
          </a:solidFill>
          <a:ln w="12700">
            <a:solidFill>
              <a:srgbClr val="F29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75888" y="5029200"/>
            <a:ext cx="2944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ตรงตามใบสั่งผลิต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21424" y="5029200"/>
            <a:ext cx="2944368" cy="502920"/>
          </a:xfrm>
          <a:prstGeom prst="roundRect">
            <a:avLst>
              <a:gd name="adj" fmla="val 49091"/>
            </a:avLst>
          </a:prstGeom>
          <a:solidFill>
            <a:srgbClr val="274C68"/>
          </a:solidFill>
          <a:ln w="12700">
            <a:solidFill>
              <a:srgbClr val="F29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21424" y="5029200"/>
            <a:ext cx="29443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ย้อนรอยจากใบเคลม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966960" y="5029200"/>
            <a:ext cx="2322576" cy="502920"/>
          </a:xfrm>
          <a:prstGeom prst="roundRect">
            <a:avLst>
              <a:gd name="adj" fmla="val 49091"/>
            </a:avLst>
          </a:prstGeom>
          <a:solidFill>
            <a:srgbClr val="274C68"/>
          </a:solidFill>
          <a:ln w="12700">
            <a:solidFill>
              <a:srgbClr val="F29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0" y="502920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ดูไดร์รายตัว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ระบบใหม่นี้ทำอะไรให้เราได้บ้าง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EAF1F6"/>
          </a:solidFill>
          <a:ln/>
          <a:effectLst>
            <a:outerShdw blurRad="76200" dist="25400" dir="5400000" algn="bl" rotWithShape="0">
              <a:srgbClr val="9AA9B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39696"/>
            <a:ext cx="640080" cy="640080"/>
          </a:xfrm>
          <a:prstGeom prst="ellipse">
            <a:avLst/>
          </a:prstGeom>
          <a:solidFill>
            <a:srgbClr val="F2933D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1396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783080" y="2157984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เห็นการเบิกไดร์รายวัน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83080" y="2816352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รู้ว่าแต่ละวันมีการเบิกไดร์ไปลงที่บล็อกไหนบ้าง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EAF1F6"/>
          </a:solidFill>
          <a:ln/>
          <a:effectLst>
            <a:outerShdw blurRad="76200" dist="25400" dir="5400000" algn="bl" rotWithShape="0">
              <a:srgbClr val="9AA9B5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6248" y="2139696"/>
            <a:ext cx="640080" cy="640080"/>
          </a:xfrm>
          <a:prstGeom prst="ellipse">
            <a:avLst/>
          </a:prstGeom>
          <a:solidFill>
            <a:srgbClr val="2BA199"/>
          </a:solidFill>
          <a:ln/>
        </p:spPr>
      </p:sp>
      <p:sp>
        <p:nvSpPr>
          <p:cNvPr id="11" name="Text 9"/>
          <p:cNvSpPr/>
          <p:nvPr/>
        </p:nvSpPr>
        <p:spPr>
          <a:xfrm>
            <a:off x="6556248" y="21396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406640" y="2157984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ตรงตามใบสั่งผลิต</a:t>
            </a:r>
            <a:r>
              <a:rPr lang="en-US" sz="20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th-TH" sz="20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06640" y="2816352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เทียบให้ว่าแต่ละงานเบิกไดร์ครบและตรงตามแผนผลิตหรือเปล่า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EAF1F6"/>
          </a:solidFill>
          <a:ln/>
          <a:effectLst>
            <a:outerShdw blurRad="76200" dist="25400" dir="5400000" algn="bl" rotWithShape="0">
              <a:srgbClr val="9AA9B5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2688" y="4334256"/>
            <a:ext cx="640080" cy="640080"/>
          </a:xfrm>
          <a:prstGeom prst="ellipse">
            <a:avLst/>
          </a:prstGeom>
          <a:solidFill>
            <a:srgbClr val="56CCF2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3342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783080" y="4352544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ย้อนรอยจากใบเคล</a:t>
            </a:r>
            <a:r>
              <a:rPr lang="th-TH" sz="20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5010912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ดึงใบเคลมของลูกค้ามาดู แล้วตามกลับไปที่งานผลิตได้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EAF1F6"/>
          </a:solidFill>
          <a:ln/>
          <a:effectLst>
            <a:outerShdw blurRad="76200" dist="25400" dir="5400000" algn="bl" rotWithShape="0">
              <a:srgbClr val="9AA9B5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6248" y="4334256"/>
            <a:ext cx="640080" cy="640080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21" name="Text 19"/>
          <p:cNvSpPr/>
          <p:nvPr/>
        </p:nvSpPr>
        <p:spPr>
          <a:xfrm>
            <a:off x="6556248" y="433425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406640" y="4352544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ดู</a:t>
            </a:r>
            <a:r>
              <a:rPr lang="th-TH" sz="20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0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Die </a:t>
            </a:r>
            <a:r>
              <a:rPr lang="en-US" sz="2000" b="1" dirty="0" err="1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รายตัว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06640" y="5010912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ไดร์ตัวนี้เคยผลิตงานอะไร น้ำหนักรวมเท่าไร เบิกไปที่ไหนบ้าง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เห็นการเบิกไดร์ทุกวัน ว่าไปลงบล็อกไหน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เลือกวันหรือช่วงเวลา ระบบจะสรุปให้ว่ามีการเบิกไดร์ไปลงบล็อกใดบ้าง ของงานไหน เครื่องไหน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77240" y="2843784"/>
            <a:ext cx="256032" cy="256032"/>
          </a:xfrm>
          <a:prstGeom prst="ellipse">
            <a:avLst/>
          </a:prstGeom>
          <a:solidFill>
            <a:srgbClr val="F2933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8254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72491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ดูรายวัน หรือเลือกช่วงเวลาเองได้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77240" y="3511296"/>
            <a:ext cx="256032" cy="256032"/>
          </a:xfrm>
          <a:prstGeom prst="ellipse">
            <a:avLst/>
          </a:prstGeom>
          <a:solidFill>
            <a:srgbClr val="F2933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4930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339242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รู้ว่าไดร์ลงบล็อกไหน งานใด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77240" y="4178808"/>
            <a:ext cx="256032" cy="256032"/>
          </a:xfrm>
          <a:prstGeom prst="ellipse">
            <a:avLst/>
          </a:prstGeom>
          <a:solidFill>
            <a:srgbClr val="F29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1605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405993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เห็นเครื่องและแผนกที่ใช้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77240" y="4846320"/>
            <a:ext cx="256032" cy="256032"/>
          </a:xfrm>
          <a:prstGeom prst="ellipse">
            <a:avLst/>
          </a:prstGeom>
          <a:solidFill>
            <a:srgbClr val="F2933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8280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472744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เลือกทีละโรงงาน </a:t>
            </a:r>
            <a:r>
              <a:rPr lang="en-US" sz="1550" dirty="0" err="1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หรือรวม</a:t>
            </a: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Wire , Plus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449824" y="1746504"/>
            <a:ext cx="6153912" cy="4105656"/>
          </a:xfrm>
          <a:prstGeom prst="roundRect">
            <a:avLst>
              <a:gd name="adj" fmla="val 1114"/>
            </a:avLst>
          </a:prstGeom>
          <a:solidFill>
            <a:srgbClr val="FFFFFF"/>
          </a:solidFill>
          <a:ln w="12700">
            <a:solidFill>
              <a:srgbClr val="C9D5DF"/>
            </a:solidFill>
            <a:prstDash val="solid"/>
          </a:ln>
          <a:effectLst>
            <a:outerShdw blurRad="114300" dist="38100" dir="5400000" algn="bl" rotWithShape="0">
              <a:srgbClr val="7E8C99">
                <a:alpha val="35000"/>
              </a:srgbClr>
            </a:outerShdw>
          </a:effectLst>
        </p:spPr>
      </p:sp>
      <p:pic>
        <p:nvPicPr>
          <p:cNvPr id="18" name="Image 0" descr="C:/xampp/htdocs/menam-workflow/docs/die-tracking/shots/cap-daily-blo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828800"/>
            <a:ext cx="5989320" cy="39410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เช็คว่าแต่ละงานเบิกไดร์ตรงตามแผนผลิตไหม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630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เปิดดูทีละใบสั่งผลิต ระบบเทียบให้ว่าแต่ละบล็อกใช้ไดร์ตรงตามขนาดในแผนผลิตหรือไม่ ครบทุกบล็อกหรือยัง พร้อมโยงเลขไดร์ (CN) รายบล็อก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76072" y="2249424"/>
            <a:ext cx="11045952" cy="2327148"/>
          </a:xfrm>
          <a:prstGeom prst="roundRect">
            <a:avLst>
              <a:gd name="adj" fmla="val 1965"/>
            </a:avLst>
          </a:prstGeom>
          <a:solidFill>
            <a:srgbClr val="FFFFFF"/>
          </a:solidFill>
          <a:ln w="12700">
            <a:solidFill>
              <a:srgbClr val="C9D5DF"/>
            </a:solidFill>
            <a:prstDash val="solid"/>
          </a:ln>
          <a:effectLst>
            <a:outerShdw blurRad="114300" dist="38100" dir="5400000" algn="bl" rotWithShape="0">
              <a:srgbClr val="7E8C99">
                <a:alpha val="35000"/>
              </a:srgbClr>
            </a:outerShdw>
          </a:effectLst>
        </p:spPr>
      </p:sp>
      <p:pic>
        <p:nvPicPr>
          <p:cNvPr id="6" name="Image 0" descr="C:/xampp/htdocs/menam-workflow/docs/die-tracking/shots/cap-wo-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31720"/>
            <a:ext cx="10881360" cy="21625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" y="489204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EAF1F6"/>
          </a:solidFill>
          <a:ln/>
          <a:effectLst>
            <a:outerShdw blurRad="76200" dist="25400" dir="5400000" algn="bl" rotWithShape="0">
              <a:srgbClr val="9AA9B5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8368" y="4892040"/>
            <a:ext cx="109728" cy="914400"/>
          </a:xfrm>
          <a:prstGeom prst="rect">
            <a:avLst/>
          </a:prstGeom>
          <a:solidFill>
            <a:srgbClr val="2BA199"/>
          </a:solidFill>
          <a:ln/>
        </p:spPr>
      </p:sp>
      <p:sp>
        <p:nvSpPr>
          <p:cNvPr id="9" name="Text 6"/>
          <p:cNvSpPr/>
          <p:nvPr/>
        </p:nvSpPr>
        <p:spPr>
          <a:xfrm>
            <a:off x="978408" y="48920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ครบทุกบล็อกหรือยัง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43400" y="489204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EAF1F6"/>
          </a:solidFill>
          <a:ln/>
          <a:effectLst>
            <a:outerShdw blurRad="76200" dist="25400" dir="5400000" algn="bl" rotWithShape="0">
              <a:srgbClr val="9AA9B5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4892040"/>
            <a:ext cx="109728" cy="914400"/>
          </a:xfrm>
          <a:prstGeom prst="rect">
            <a:avLst/>
          </a:prstGeom>
          <a:solidFill>
            <a:srgbClr val="F2933D"/>
          </a:solidFill>
          <a:ln/>
        </p:spPr>
      </p:sp>
      <p:sp>
        <p:nvSpPr>
          <p:cNvPr id="12" name="Text 9"/>
          <p:cNvSpPr/>
          <p:nvPr/>
        </p:nvSpPr>
        <p:spPr>
          <a:xfrm>
            <a:off x="4663440" y="48920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เทียบขนาดตามแผนผลิต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28432" y="489204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EAF1F6"/>
          </a:solidFill>
          <a:ln/>
          <a:effectLst>
            <a:outerShdw blurRad="76200" dist="25400" dir="5400000" algn="bl" rotWithShape="0">
              <a:srgbClr val="9AA9B5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028432" y="4892040"/>
            <a:ext cx="109728" cy="914400"/>
          </a:xfrm>
          <a:prstGeom prst="rect">
            <a:avLst/>
          </a:prstGeom>
          <a:solidFill>
            <a:srgbClr val="56CCF2"/>
          </a:solidFill>
          <a:ln/>
        </p:spPr>
      </p:sp>
      <p:sp>
        <p:nvSpPr>
          <p:cNvPr id="15" name="Text 12"/>
          <p:cNvSpPr/>
          <p:nvPr/>
        </p:nvSpPr>
        <p:spPr>
          <a:xfrm>
            <a:off x="8348472" y="48920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โยงเลขไดร์ (CN) รายบล็อก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ดึงใบเคลม (CN) มาดู แล้วย้อนรอยกลับไปที่การผลิต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ระบบสรุปจำนวนใบเคลมในรอบที่ผ่านมา พร้อมโยงกลับไปยังใบสั่งผลิต — ตามดูได้ว่ากระบวนการผลิตและไดร์ที่ใช้ควรปรับตรงไหน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987552" y="2066544"/>
            <a:ext cx="10222992" cy="101589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C9D5DF"/>
            </a:solidFill>
            <a:prstDash val="solid"/>
          </a:ln>
          <a:effectLst>
            <a:outerShdw blurRad="114300" dist="38100" dir="5400000" algn="bl" rotWithShape="0">
              <a:srgbClr val="7E8C99">
                <a:alpha val="35000"/>
              </a:srgbClr>
            </a:outerShdw>
          </a:effectLst>
        </p:spPr>
      </p:sp>
      <p:pic>
        <p:nvPicPr>
          <p:cNvPr id="6" name="Image 0" descr="C:/xampp/htdocs/menam-workflow/docs/die-tracking/shots/cap-claim-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148840"/>
            <a:ext cx="10058400" cy="85130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" y="3255264"/>
            <a:ext cx="11045952" cy="1741018"/>
          </a:xfrm>
          <a:prstGeom prst="roundRect">
            <a:avLst>
              <a:gd name="adj" fmla="val 2626"/>
            </a:avLst>
          </a:prstGeom>
          <a:solidFill>
            <a:srgbClr val="FFFFFF"/>
          </a:solidFill>
          <a:ln w="12700">
            <a:solidFill>
              <a:srgbClr val="C9D5DF"/>
            </a:solidFill>
            <a:prstDash val="solid"/>
          </a:ln>
          <a:effectLst>
            <a:outerShdw blurRad="114300" dist="38100" dir="5400000" algn="bl" rotWithShape="0">
              <a:srgbClr val="7E8C99">
                <a:alpha val="35000"/>
              </a:srgbClr>
            </a:outerShdw>
          </a:effectLst>
        </p:spPr>
      </p:sp>
      <p:pic>
        <p:nvPicPr>
          <p:cNvPr id="8" name="Image 1" descr="C:/xampp/htdocs/menam-workflow/docs/die-tracking/shots/cap-claim-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37560"/>
            <a:ext cx="10881360" cy="157642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" y="51663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ตัวอย่าง: ใบเคลม EC โยงถึง Sales Order และใบสั่งผลิต พร้อมรายละเอียด/เหตุผลการเคลม เพื่อย้อนรอยปรับปรุงคุณภาพ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ดูไดร์ทีละตัว ว่าทำงานอะไรมาบ้าง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4475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ไดร์แต่ละตัวเคยผลิตงานอะไรมาบ้าง สร้างน้ำหนักงานรวมไปเท่าไร และเคลื่อนไหวอย่างไร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3246120" cy="1097280"/>
          </a:xfrm>
          <a:prstGeom prst="roundRect">
            <a:avLst>
              <a:gd name="adj" fmla="val 8333"/>
            </a:avLst>
          </a:prstGeom>
          <a:solidFill>
            <a:srgbClr val="EAF1F6"/>
          </a:solidFill>
          <a:ln/>
          <a:effectLst>
            <a:outerShdw blurRad="76200" dist="25400" dir="5400000" algn="bl" rotWithShape="0">
              <a:srgbClr val="9AA9B5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2148840"/>
            <a:ext cx="109728" cy="1097280"/>
          </a:xfrm>
          <a:prstGeom prst="rect">
            <a:avLst/>
          </a:prstGeom>
          <a:solidFill>
            <a:srgbClr val="2BA19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9514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น้ำหนักงานสะสม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2715768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รวมงานสำเร็จที่ไดร์ช่วยผลิต (กก.)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3392424"/>
            <a:ext cx="3246120" cy="1097280"/>
          </a:xfrm>
          <a:prstGeom prst="roundRect">
            <a:avLst>
              <a:gd name="adj" fmla="val 8333"/>
            </a:avLst>
          </a:prstGeom>
          <a:solidFill>
            <a:srgbClr val="EAF1F6"/>
          </a:solidFill>
          <a:ln/>
          <a:effectLst>
            <a:outerShdw blurRad="76200" dist="25400" dir="5400000" algn="bl" rotWithShape="0">
              <a:srgbClr val="9AA9B5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3392424"/>
            <a:ext cx="109728" cy="1097280"/>
          </a:xfrm>
          <a:prstGeom prst="rect">
            <a:avLst/>
          </a:prstGeom>
          <a:solidFill>
            <a:srgbClr val="F2933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3872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เคยผลิตกี่งาน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3959352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จำนวนใบสั่งผลิต (WO) ที่เคยใช้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4636008"/>
            <a:ext cx="3246120" cy="1097280"/>
          </a:xfrm>
          <a:prstGeom prst="roundRect">
            <a:avLst>
              <a:gd name="adj" fmla="val 8333"/>
            </a:avLst>
          </a:prstGeom>
          <a:solidFill>
            <a:srgbClr val="EAF1F6"/>
          </a:solidFill>
          <a:ln/>
          <a:effectLst>
            <a:outerShdw blurRad="76200" dist="25400" dir="5400000" algn="bl" rotWithShape="0">
              <a:srgbClr val="9AA9B5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4636008"/>
            <a:ext cx="109728" cy="1097280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78231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เบิกไปกี่แผนก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14400" y="5202936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และตำแหน่งล่าสุดของไดร์ตอนนี้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69664" y="2020824"/>
            <a:ext cx="7434072" cy="3983126"/>
          </a:xfrm>
          <a:prstGeom prst="roundRect">
            <a:avLst>
              <a:gd name="adj" fmla="val 1148"/>
            </a:avLst>
          </a:prstGeom>
          <a:solidFill>
            <a:srgbClr val="FFFFFF"/>
          </a:solidFill>
          <a:ln w="12700">
            <a:solidFill>
              <a:srgbClr val="C9D5DF"/>
            </a:solidFill>
            <a:prstDash val="solid"/>
          </a:ln>
          <a:effectLst>
            <a:outerShdw blurRad="114300" dist="38100" dir="5400000" algn="bl" rotWithShape="0">
              <a:srgbClr val="7E8C99">
                <a:alpha val="35000"/>
              </a:srgbClr>
            </a:outerShdw>
          </a:effectLst>
        </p:spPr>
      </p:sp>
      <p:pic>
        <p:nvPicPr>
          <p:cNvPr id="18" name="Image 0" descr="C:/xampp/htdocs/menam-workflow/docs/die-tracking/shots/cap-life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103120"/>
            <a:ext cx="7269480" cy="38185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เครื่องมือเสริมที่ช่วยให้เห็นภาพครบ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6072" y="1929384"/>
            <a:ext cx="7205472" cy="2355494"/>
          </a:xfrm>
          <a:prstGeom prst="roundRect">
            <a:avLst>
              <a:gd name="adj" fmla="val 1941"/>
            </a:avLst>
          </a:prstGeom>
          <a:solidFill>
            <a:srgbClr val="FFFFFF"/>
          </a:solidFill>
          <a:ln w="12700">
            <a:solidFill>
              <a:srgbClr val="C9D5DF"/>
            </a:solidFill>
            <a:prstDash val="solid"/>
          </a:ln>
          <a:effectLst>
            <a:outerShdw blurRad="114300" dist="38100" dir="5400000" algn="bl" rotWithShape="0">
              <a:srgbClr val="7E8C99">
                <a:alpha val="35000"/>
              </a:srgbClr>
            </a:outerShdw>
          </a:effectLst>
        </p:spPr>
      </p:sp>
      <p:pic>
        <p:nvPicPr>
          <p:cNvPr id="5" name="Image 0" descr="C:/xampp/htdocs/menam-workflow/docs/die-tracking/shots/cap-current-mach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11680"/>
            <a:ext cx="7040880" cy="21909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92440" y="201168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2BA199"/>
          </a:solidFill>
          <a:ln/>
        </p:spPr>
      </p:sp>
      <p:sp>
        <p:nvSpPr>
          <p:cNvPr id="7" name="Text 4"/>
          <p:cNvSpPr/>
          <p:nvPr/>
        </p:nvSpPr>
        <p:spPr>
          <a:xfrm>
            <a:off x="8092440" y="201168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ใหม่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92440" y="2514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ไดร์บนเครื่องรีด ณ ปัจจุบัน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092440" y="320040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เห็นว่าเครื่องรีดแต่ละตัวกำลังใช้ไดร์ตัวไหนอยู่ จัดกลุ่มตามเครื่องจักร เห็นภาระงานหน้างานทันที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" y="4709160"/>
            <a:ext cx="2066544" cy="1325880"/>
          </a:xfrm>
          <a:prstGeom prst="roundRect">
            <a:avLst>
              <a:gd name="adj" fmla="val 6897"/>
            </a:avLst>
          </a:prstGeom>
          <a:solidFill>
            <a:srgbClr val="EAF1F6"/>
          </a:solidFill>
          <a:ln/>
          <a:effectLst>
            <a:outerShdw blurRad="76200" dist="25400" dir="5400000" algn="bl" rotWithShape="0">
              <a:srgbClr val="9AA9B5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" y="4709160"/>
            <a:ext cx="2066544" cy="109728"/>
          </a:xfrm>
          <a:prstGeom prst="rect">
            <a:avLst/>
          </a:prstGeom>
          <a:solidFill>
            <a:srgbClr val="F2933D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498348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ไดร์อยู่ที่ไหน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41248" y="548640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ตำแหน่งล่าสุดทุกตัว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862072" y="4709160"/>
            <a:ext cx="2066544" cy="1325880"/>
          </a:xfrm>
          <a:prstGeom prst="roundRect">
            <a:avLst>
              <a:gd name="adj" fmla="val 6897"/>
            </a:avLst>
          </a:prstGeom>
          <a:solidFill>
            <a:srgbClr val="EAF1F6"/>
          </a:solidFill>
          <a:ln/>
          <a:effectLst>
            <a:outerShdw blurRad="76200" dist="25400" dir="5400000" algn="bl" rotWithShape="0">
              <a:srgbClr val="9AA9B5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862072" y="4709160"/>
            <a:ext cx="2066544" cy="109728"/>
          </a:xfrm>
          <a:prstGeom prst="rect">
            <a:avLst/>
          </a:prstGeom>
          <a:solidFill>
            <a:srgbClr val="56CCF2"/>
          </a:solidFill>
          <a:ln/>
        </p:spPr>
      </p:sp>
      <p:sp>
        <p:nvSpPr>
          <p:cNvPr id="16" name="Text 13"/>
          <p:cNvSpPr/>
          <p:nvPr/>
        </p:nvSpPr>
        <p:spPr>
          <a:xfrm>
            <a:off x="3044952" y="498348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ไดร์ที่ถูกทิ้งไว้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044952" y="548640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ไม่ถูกใช้นาน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65776" y="4709160"/>
            <a:ext cx="2066544" cy="1325880"/>
          </a:xfrm>
          <a:prstGeom prst="roundRect">
            <a:avLst>
              <a:gd name="adj" fmla="val 6897"/>
            </a:avLst>
          </a:prstGeom>
          <a:solidFill>
            <a:srgbClr val="EAF1F6"/>
          </a:solidFill>
          <a:ln/>
          <a:effectLst>
            <a:outerShdw blurRad="76200" dist="25400" dir="5400000" algn="bl" rotWithShape="0">
              <a:srgbClr val="9AA9B5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065776" y="4709160"/>
            <a:ext cx="2066544" cy="109728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20" name="Text 17"/>
          <p:cNvSpPr/>
          <p:nvPr/>
        </p:nvSpPr>
        <p:spPr>
          <a:xfrm>
            <a:off x="5248656" y="498348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ผลิตงานมากสุด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248656" y="548640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จัดอันดับตามน้ำหนัก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269480" y="4709160"/>
            <a:ext cx="2066544" cy="1325880"/>
          </a:xfrm>
          <a:prstGeom prst="roundRect">
            <a:avLst>
              <a:gd name="adj" fmla="val 6897"/>
            </a:avLst>
          </a:prstGeom>
          <a:solidFill>
            <a:srgbClr val="EAF1F6"/>
          </a:solidFill>
          <a:ln/>
          <a:effectLst>
            <a:outerShdw blurRad="76200" dist="25400" dir="5400000" algn="bl" rotWithShape="0">
              <a:srgbClr val="9AA9B5">
                <a:alpha val="2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269480" y="4709160"/>
            <a:ext cx="2066544" cy="109728"/>
          </a:xfrm>
          <a:prstGeom prst="rect">
            <a:avLst/>
          </a:prstGeom>
          <a:solidFill>
            <a:srgbClr val="2BA199"/>
          </a:solidFill>
          <a:ln/>
        </p:spPr>
      </p:sp>
      <p:sp>
        <p:nvSpPr>
          <p:cNvPr id="24" name="Text 21"/>
          <p:cNvSpPr/>
          <p:nvPr/>
        </p:nvSpPr>
        <p:spPr>
          <a:xfrm>
            <a:off x="7452360" y="498348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เทียบช่วงเวลา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452360" y="548640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ยอดนี้กับช่วงก่อน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473184" y="4709160"/>
            <a:ext cx="2066544" cy="1325880"/>
          </a:xfrm>
          <a:prstGeom prst="roundRect">
            <a:avLst>
              <a:gd name="adj" fmla="val 6897"/>
            </a:avLst>
          </a:prstGeom>
          <a:solidFill>
            <a:srgbClr val="EAF1F6"/>
          </a:solidFill>
          <a:ln/>
          <a:effectLst>
            <a:outerShdw blurRad="76200" dist="25400" dir="5400000" algn="bl" rotWithShape="0">
              <a:srgbClr val="9AA9B5">
                <a:alpha val="2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473184" y="4709160"/>
            <a:ext cx="2066544" cy="109728"/>
          </a:xfrm>
          <a:prstGeom prst="rect">
            <a:avLst/>
          </a:prstGeom>
          <a:solidFill>
            <a:srgbClr val="F2933D"/>
          </a:solidFill>
          <a:ln/>
        </p:spPr>
      </p:sp>
      <p:sp>
        <p:nvSpPr>
          <p:cNvPr id="28" name="Text 25"/>
          <p:cNvSpPr/>
          <p:nvPr/>
        </p:nvSpPr>
        <p:spPr>
          <a:xfrm>
            <a:off x="9656064" y="498348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1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ส่งออก Excel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656064" y="548640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ดึงข้อมูลไปใช้ต่อ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1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188720"/>
            <a:ext cx="3474720" cy="3474720"/>
          </a:xfrm>
          <a:prstGeom prst="ellipse">
            <a:avLst/>
          </a:prstGeom>
          <a:solidFill>
            <a:srgbClr val="274C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933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93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สรุป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ครั้งแรกที่เรามองเห็นการใช้งานไดร์</a:t>
            </a:r>
            <a:endParaRPr lang="en-US" sz="3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ได้ครบทั้งวงจร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2542032" cy="1874520"/>
          </a:xfrm>
          <a:prstGeom prst="roundRect">
            <a:avLst>
              <a:gd name="adj" fmla="val 4878"/>
            </a:avLst>
          </a:prstGeom>
          <a:solidFill>
            <a:srgbClr val="274C68"/>
          </a:solidFill>
          <a:ln/>
          <a:effectLst>
            <a:outerShdw blurRad="76200" dist="25400" dir="5400000" algn="bl" rotWithShape="0">
              <a:srgbClr val="9AA9B5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3246120"/>
            <a:ext cx="2542032" cy="118872"/>
          </a:xfrm>
          <a:prstGeom prst="rect">
            <a:avLst/>
          </a:prstGeom>
          <a:solidFill>
            <a:srgbClr val="F2933D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566160"/>
            <a:ext cx="2084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เห็นหน้างานรายวัน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51560" y="4297680"/>
            <a:ext cx="2084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รู้ว่าไดร์ถูกเบิกไปลงบล็อกไหนทุกวัน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66160" y="3246120"/>
            <a:ext cx="2542032" cy="1874520"/>
          </a:xfrm>
          <a:prstGeom prst="roundRect">
            <a:avLst>
              <a:gd name="adj" fmla="val 4878"/>
            </a:avLst>
          </a:prstGeom>
          <a:solidFill>
            <a:srgbClr val="274C68"/>
          </a:solidFill>
          <a:ln/>
          <a:effectLst>
            <a:outerShdw blurRad="76200" dist="25400" dir="5400000" algn="bl" rotWithShape="0">
              <a:srgbClr val="9AA9B5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3246120"/>
            <a:ext cx="2542032" cy="118872"/>
          </a:xfrm>
          <a:prstGeom prst="rect">
            <a:avLst/>
          </a:prstGeom>
          <a:solidFill>
            <a:srgbClr val="2BA199"/>
          </a:solidFill>
          <a:ln/>
        </p:spPr>
      </p:sp>
      <p:sp>
        <p:nvSpPr>
          <p:cNvPr id="12" name="Text 10"/>
          <p:cNvSpPr/>
          <p:nvPr/>
        </p:nvSpPr>
        <p:spPr>
          <a:xfrm>
            <a:off x="3794760" y="3566160"/>
            <a:ext cx="2084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มั่นใจว่าผลิตตรงแผน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794760" y="4297680"/>
            <a:ext cx="2084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เช็คความพร้อมก่อนเริ่มงานได้ทุกใบ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3246120"/>
            <a:ext cx="2542032" cy="1874520"/>
          </a:xfrm>
          <a:prstGeom prst="roundRect">
            <a:avLst>
              <a:gd name="adj" fmla="val 4878"/>
            </a:avLst>
          </a:prstGeom>
          <a:solidFill>
            <a:srgbClr val="274C68"/>
          </a:solidFill>
          <a:ln/>
          <a:effectLst>
            <a:outerShdw blurRad="76200" dist="25400" dir="5400000" algn="bl" rotWithShape="0">
              <a:srgbClr val="9AA9B5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3246120"/>
            <a:ext cx="2542032" cy="118872"/>
          </a:xfrm>
          <a:prstGeom prst="rect">
            <a:avLst/>
          </a:prstGeom>
          <a:solidFill>
            <a:srgbClr val="56CCF2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3566160"/>
            <a:ext cx="2084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ย้อนรอยปัญหาได้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537960" y="4297680"/>
            <a:ext cx="2084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ตามจากใบเคลมกลับไปถึงการผลิต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52560" y="3246120"/>
            <a:ext cx="2542032" cy="1874520"/>
          </a:xfrm>
          <a:prstGeom prst="roundRect">
            <a:avLst>
              <a:gd name="adj" fmla="val 4878"/>
            </a:avLst>
          </a:prstGeom>
          <a:solidFill>
            <a:srgbClr val="274C68"/>
          </a:solidFill>
          <a:ln/>
          <a:effectLst>
            <a:outerShdw blurRad="76200" dist="25400" dir="5400000" algn="bl" rotWithShape="0">
              <a:srgbClr val="9AA9B5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52560" y="3246120"/>
            <a:ext cx="2542032" cy="118872"/>
          </a:xfrm>
          <a:prstGeom prst="rect">
            <a:avLst/>
          </a:prstGeom>
          <a:solidFill>
            <a:srgbClr val="F2C94C"/>
          </a:solidFill>
          <a:ln/>
        </p:spPr>
      </p:sp>
      <p:sp>
        <p:nvSpPr>
          <p:cNvPr id="20" name="Text 18"/>
          <p:cNvSpPr/>
          <p:nvPr/>
        </p:nvSpPr>
        <p:spPr>
          <a:xfrm>
            <a:off x="9281160" y="3566160"/>
            <a:ext cx="2084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ดูแลไดร์รายตัว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281160" y="4297680"/>
            <a:ext cx="2084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รู้ประวัติและน้ำหนักงานของไดร์แต่ละตัว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549</Words>
  <Application>Microsoft Office PowerPoint</Application>
  <PresentationFormat>Widescreen</PresentationFormat>
  <Paragraphs>79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Nitiphan Turaphan</cp:lastModifiedBy>
  <cp:revision>2</cp:revision>
  <dcterms:created xsi:type="dcterms:W3CDTF">2026-06-25T01:55:44Z</dcterms:created>
  <dcterms:modified xsi:type="dcterms:W3CDTF">2026-06-25T01:59:40Z</dcterms:modified>
</cp:coreProperties>
</file>