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097280"/>
            <a:ext cx="3291840" cy="3291840"/>
          </a:xfrm>
          <a:prstGeom prst="ellipse">
            <a:avLst/>
          </a:prstGeom>
          <a:solidFill>
            <a:srgbClr val="274C68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4572000"/>
            <a:ext cx="2926080" cy="2926080"/>
          </a:xfrm>
          <a:prstGeom prst="ellipse">
            <a:avLst/>
          </a:prstGeom>
          <a:solidFill>
            <a:srgbClr val="274C6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55080"/>
            <a:ext cx="12191695" cy="109728"/>
          </a:xfrm>
          <a:prstGeom prst="rect">
            <a:avLst/>
          </a:prstGeom>
          <a:solidFill>
            <a:srgbClr val="F293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F29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DIE TRACKING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ระบบติดตามการใช้งานไดร์ (แม่พิมพ์ดึงลวด)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41248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สรุปโมดูลและฟังก์ชันทั้งหมดแบบเข้าใจง่าย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41248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274C68"/>
          </a:solidFill>
          <a:ln w="12700">
            <a:solidFill>
              <a:srgbClr val="F29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4297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มุมมองหลัก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52928" y="4297680"/>
            <a:ext cx="1700784" cy="457200"/>
          </a:xfrm>
          <a:prstGeom prst="roundRect">
            <a:avLst>
              <a:gd name="adj" fmla="val 50000"/>
            </a:avLst>
          </a:prstGeom>
          <a:solidFill>
            <a:srgbClr val="274C68"/>
          </a:solidFill>
          <a:ln w="12700">
            <a:solidFill>
              <a:srgbClr val="F29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52928" y="429768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ทะเบียนไดร์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36592" y="4297680"/>
            <a:ext cx="1956816" cy="457200"/>
          </a:xfrm>
          <a:prstGeom prst="roundRect">
            <a:avLst>
              <a:gd name="adj" fmla="val 50000"/>
            </a:avLst>
          </a:prstGeom>
          <a:solidFill>
            <a:srgbClr val="274C68"/>
          </a:solidFill>
          <a:ln w="12700">
            <a:solidFill>
              <a:srgbClr val="F29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4297680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ประวัติรายตัว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76288" y="4297680"/>
            <a:ext cx="1444752" cy="457200"/>
          </a:xfrm>
          <a:prstGeom prst="roundRect">
            <a:avLst>
              <a:gd name="adj" fmla="val 50000"/>
            </a:avLst>
          </a:prstGeom>
          <a:solidFill>
            <a:srgbClr val="274C68"/>
          </a:solidFill>
          <a:ln w="12700">
            <a:solidFill>
              <a:srgbClr val="F29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76288" y="429768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0392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274C68"/>
          </a:solidFill>
          <a:ln w="12700">
            <a:solidFill>
              <a:srgbClr val="F29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4297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Excel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ระบบนี้ทำอะไร?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ติดตามว่า “ไดร์” แต่ละตัวถูกเบิกไปใช้ที่ไหน ผลิตอะไร ใช้ไปกี่เมตร และตอนนี้อยู่ที่ไหน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AF1F6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109728" cy="1371600"/>
          </a:xfrm>
          <a:prstGeom prst="rect">
            <a:avLst/>
          </a:prstGeom>
          <a:solidFill>
            <a:srgbClr val="F293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933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ไดร์ (Die)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8716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แม่พิมพ์สำหรับดึงลวดให้เล็กลงตามขนาด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AF1F6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34840" y="1828800"/>
            <a:ext cx="109728" cy="1371600"/>
          </a:xfrm>
          <a:prstGeom prst="rect">
            <a:avLst/>
          </a:prstGeom>
          <a:solidFill>
            <a:srgbClr val="2BA199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9933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Order (WO)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09160" y="248716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ใบสั่งผลิต — บอกว่าจะผลิตงานอะไร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0" y="182880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AF1F6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0" y="1828800"/>
            <a:ext cx="109728" cy="1371600"/>
          </a:xfrm>
          <a:prstGeom prst="rect">
            <a:avLst/>
          </a:prstGeom>
          <a:solidFill>
            <a:srgbClr val="274C68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19933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 / บล็อก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03920" y="248716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ช่องในเครื่องดึงลวดที่ต้องใส่ไดร์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AF1F6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429000"/>
            <a:ext cx="109728" cy="1371600"/>
          </a:xfrm>
          <a:prstGeom prst="rect">
            <a:avLst/>
          </a:prstGeom>
          <a:solidFill>
            <a:srgbClr val="F2933D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5935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เมตร (meter)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408736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ระยะลวดที่ดึงผ่านไดร์ = อายุการใช้งาน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434840" y="342900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AF1F6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34840" y="3429000"/>
            <a:ext cx="109728" cy="1371600"/>
          </a:xfrm>
          <a:prstGeom prst="rect">
            <a:avLst/>
          </a:prstGeom>
          <a:solidFill>
            <a:srgbClr val="2BA199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35935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กิโลกรัม (kg)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09160" y="408736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น้ำหนักงานสำเร็จที่ไดร์ช่วยผลิต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229600" y="342900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AF1F6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0" y="3429000"/>
            <a:ext cx="109728" cy="1371600"/>
          </a:xfrm>
          <a:prstGeom prst="rect">
            <a:avLst/>
          </a:prstGeom>
          <a:solidFill>
            <a:srgbClr val="274C68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35935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โรงงาน (W / P)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503920" y="408736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ดึงข้อมูลจาก PostgreSQL 2 ฐาน เลือกแยกหรือรวมได้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หน้า Dashboard — ดูได้ 3 มุมมอง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เปิดหน้าเดียว สลับมุมมองได้ทันที พร้อมกราฟและตารางสรุป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611880" cy="3840480"/>
          </a:xfrm>
          <a:prstGeom prst="roundRect">
            <a:avLst>
              <a:gd name="adj" fmla="val 2532"/>
            </a:avLst>
          </a:prstGeom>
          <a:solidFill>
            <a:srgbClr val="16314A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3100" y="2331720"/>
            <a:ext cx="1005840" cy="1005840"/>
          </a:xfrm>
          <a:prstGeom prst="ellipse">
            <a:avLst/>
          </a:prstGeom>
          <a:solidFill>
            <a:srgbClr val="F2933D"/>
          </a:solidFill>
          <a:ln/>
        </p:spPr>
      </p:sp>
      <p:sp>
        <p:nvSpPr>
          <p:cNvPr id="6" name="Text 4"/>
          <p:cNvSpPr/>
          <p:nvPr/>
        </p:nvSpPr>
        <p:spPr>
          <a:xfrm>
            <a:off x="1943100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ตามใบสั่งผลิต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977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29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Work Order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4348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พิมพ์เลข WO → เห็นว่าใช้ไดร์ตัวไหน บล็อกไหน ครบทุกบล็อกหรือยัง พร้อมเตือนปัญหา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80560" y="1920240"/>
            <a:ext cx="3611880" cy="3840480"/>
          </a:xfrm>
          <a:prstGeom prst="roundRect">
            <a:avLst>
              <a:gd name="adj" fmla="val 2532"/>
            </a:avLst>
          </a:prstGeom>
          <a:solidFill>
            <a:srgbClr val="16314A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83580" y="2331720"/>
            <a:ext cx="1005840" cy="1005840"/>
          </a:xfrm>
          <a:prstGeom prst="ellipse">
            <a:avLst/>
          </a:prstGeom>
          <a:solidFill>
            <a:srgbClr val="2BA199"/>
          </a:solidFill>
          <a:ln/>
        </p:spPr>
      </p:sp>
      <p:sp>
        <p:nvSpPr>
          <p:cNvPr id="12" name="Text 10"/>
          <p:cNvSpPr/>
          <p:nvPr/>
        </p:nvSpPr>
        <p:spPr>
          <a:xfrm>
            <a:off x="5783580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754880" y="3520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ตามวันที่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754880" y="3977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BA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44348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เลือกวันหรือช่วงวัน → เห็นการเบิกใช้ไดร์ทั้งหมด + ตารางความหนาแน่น (heatmap)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321040" y="1920240"/>
            <a:ext cx="3611880" cy="3840480"/>
          </a:xfrm>
          <a:prstGeom prst="roundRect">
            <a:avLst>
              <a:gd name="adj" fmla="val 2532"/>
            </a:avLst>
          </a:prstGeom>
          <a:solidFill>
            <a:srgbClr val="16314A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24060" y="2331720"/>
            <a:ext cx="1005840" cy="1005840"/>
          </a:xfrm>
          <a:prstGeom prst="ellipse">
            <a:avLst/>
          </a:prstGeom>
          <a:solidFill>
            <a:srgbClr val="7FA8C9"/>
          </a:solidFill>
          <a:ln/>
        </p:spPr>
      </p:sp>
      <p:sp>
        <p:nvSpPr>
          <p:cNvPr id="18" name="Text 16"/>
          <p:cNvSpPr/>
          <p:nvPr/>
        </p:nvSpPr>
        <p:spPr>
          <a:xfrm>
            <a:off x="9624060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8595360" y="3520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ตามสัปดาห์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595360" y="3977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Week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0" y="44348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เลือกปี/สัปดาห์ → สรุปการใช้ไดร์รายสัปดาห์ เทียบแนวโน้มได้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เจาะมุมมอง: ตามใบสั่งผลิต (WO)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จุดเด่นคือ “เช็คความพร้อม” ก่อนเริ่มผลิต — ไดร์ครบทุกบล็อกไหม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949440" cy="914400"/>
          </a:xfrm>
          <a:prstGeom prst="roundRect">
            <a:avLst>
              <a:gd name="adj" fmla="val 10000"/>
            </a:avLst>
          </a:prstGeom>
          <a:solidFill>
            <a:srgbClr val="EAF1F6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F293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98424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ความครบถ้วน (Completeness)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508760" y="23317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บอกว่าจากบล็อกที่ต้องมีทั้งหมด มีไดร์ครบกี่บล็อก ขาดบล็อกไหน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53512"/>
            <a:ext cx="6949440" cy="914400"/>
          </a:xfrm>
          <a:prstGeom prst="roundRect">
            <a:avLst>
              <a:gd name="adj" fmla="val 10000"/>
            </a:avLst>
          </a:prstGeom>
          <a:solidFill>
            <a:srgbClr val="EAF1F6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182112"/>
            <a:ext cx="457200" cy="457200"/>
          </a:xfrm>
          <a:prstGeom prst="ellipse">
            <a:avLst/>
          </a:prstGeom>
          <a:solidFill>
            <a:srgbClr val="F2933D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30632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ความพร้อม (Readiness)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508760" y="341071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สรุปเป็น พร้อม / ต้องตรวจ / ขาด รายบล็อก เพื่อตัดสินใจเริ่มงาน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32504"/>
            <a:ext cx="6949440" cy="914400"/>
          </a:xfrm>
          <a:prstGeom prst="roundRect">
            <a:avLst>
              <a:gd name="adj" fmla="val 10000"/>
            </a:avLst>
          </a:prstGeom>
          <a:solidFill>
            <a:srgbClr val="EAF1F6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261104"/>
            <a:ext cx="457200" cy="457200"/>
          </a:xfrm>
          <a:prstGeom prst="ellipse">
            <a:avLst/>
          </a:prstGeom>
          <a:solidFill>
            <a:srgbClr val="F2933D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261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14223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รายการเตือน (Exceptions)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508760" y="4489704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เตือนอัตโนมัติ: ไดร์ขาด, สถานะไดร์ผิดปกติ, ขนาดบล็อกไม่ตรงไดร์, ใช้เมตรสูงผิดปกติ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111496"/>
            <a:ext cx="6949440" cy="914400"/>
          </a:xfrm>
          <a:prstGeom prst="roundRect">
            <a:avLst>
              <a:gd name="adj" fmla="val 10000"/>
            </a:avLst>
          </a:prstGeom>
          <a:solidFill>
            <a:srgbClr val="EAF1F6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5340096"/>
            <a:ext cx="457200" cy="457200"/>
          </a:xfrm>
          <a:prstGeom prst="ellipse">
            <a:avLst/>
          </a:prstGeom>
          <a:solidFill>
            <a:srgbClr val="F2933D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340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522122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สรุปยอด (Summary)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508760" y="5568696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จำนวนรายการ, ไดร์ที่ใช้, เมตรรวม, จำนวน WO และแผนกที่เกี่ยวข้อง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818120" y="1874520"/>
            <a:ext cx="3703320" cy="4315968"/>
          </a:xfrm>
          <a:prstGeom prst="roundRect">
            <a:avLst>
              <a:gd name="adj" fmla="val 2469"/>
            </a:avLst>
          </a:prstGeom>
          <a:solidFill>
            <a:srgbClr val="16314A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46720" y="2057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ระดับการเตือน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046720" y="2697480"/>
            <a:ext cx="320040" cy="3200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26517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DANGER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03920" y="299008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ไดร์ถูกตัดทิ้ง (SCRAP) — ห้ามใช้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46720" y="3794760"/>
            <a:ext cx="320040" cy="320040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3749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9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WARNING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03920" y="408736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ไดร์ขาด / สถานะผิด / ขนาดไม่ตรง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046720" y="4892040"/>
            <a:ext cx="320040" cy="320040"/>
          </a:xfrm>
          <a:prstGeom prst="ellipse">
            <a:avLst/>
          </a:prstGeom>
          <a:solidFill>
            <a:srgbClr val="56CCF2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846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CC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503920" y="518464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เมตรสูง (≥ 5,000) ควรจับตา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ทะเบียนไดร์ (Die Master)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รายชื่อไดร์ทั้งหมดในระบบ ค้นหา/กรองได้หลายเงื่อนไข พร้อม กก. สะสมที่ไดร์เคยช่วยผลิต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4C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กรองได้ตาม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429000" cy="868680"/>
          </a:xfrm>
          <a:prstGeom prst="roundRect">
            <a:avLst>
              <a:gd name="adj" fmla="val 10526"/>
            </a:avLst>
          </a:prstGeom>
          <a:solidFill>
            <a:srgbClr val="EAF1F6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77440"/>
            <a:ext cx="91440" cy="868680"/>
          </a:xfrm>
          <a:prstGeom prst="rect">
            <a:avLst/>
          </a:prstGeom>
          <a:solidFill>
            <a:srgbClr val="2BA199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49631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คำค้น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85292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เลขไดร์ / รายละเอียด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2377440"/>
            <a:ext cx="3429000" cy="868680"/>
          </a:xfrm>
          <a:prstGeom prst="roundRect">
            <a:avLst>
              <a:gd name="adj" fmla="val 10526"/>
            </a:avLst>
          </a:prstGeom>
          <a:solidFill>
            <a:srgbClr val="EAF1F6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1960" y="2377440"/>
            <a:ext cx="91440" cy="868680"/>
          </a:xfrm>
          <a:prstGeom prst="rect">
            <a:avLst/>
          </a:prstGeom>
          <a:solidFill>
            <a:srgbClr val="2BA199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249631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สถานะ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07992" y="285292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ใช้ได้ / ส่งซ่อม / ตัดทิ้ง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3429000" cy="868680"/>
          </a:xfrm>
          <a:prstGeom prst="roundRect">
            <a:avLst>
              <a:gd name="adj" fmla="val 10526"/>
            </a:avLst>
          </a:prstGeom>
          <a:solidFill>
            <a:srgbClr val="EAF1F6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429000"/>
            <a:ext cx="91440" cy="868680"/>
          </a:xfrm>
          <a:prstGeom prst="rect">
            <a:avLst/>
          </a:prstGeom>
          <a:solidFill>
            <a:srgbClr val="2BA199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54787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หมวด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6112" y="390448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หมวดหมู่ของไดร์ (category)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51960" y="3429000"/>
            <a:ext cx="3429000" cy="868680"/>
          </a:xfrm>
          <a:prstGeom prst="roundRect">
            <a:avLst>
              <a:gd name="adj" fmla="val 10526"/>
            </a:avLst>
          </a:prstGeom>
          <a:solidFill>
            <a:srgbClr val="EAF1F6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51960" y="3429000"/>
            <a:ext cx="91440" cy="868680"/>
          </a:xfrm>
          <a:prstGeom prst="rect">
            <a:avLst/>
          </a:prstGeom>
          <a:solidFill>
            <a:srgbClr val="2BA199"/>
          </a:solidFill>
          <a:ln/>
        </p:spPr>
      </p:sp>
      <p:sp>
        <p:nvSpPr>
          <p:cNvPr id="19" name="Text 17"/>
          <p:cNvSpPr/>
          <p:nvPr/>
        </p:nvSpPr>
        <p:spPr>
          <a:xfrm>
            <a:off x="4507992" y="354787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ประเภท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07992" y="390448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ประเภทอุปกรณ์ (เช่น ไดร์)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480560"/>
            <a:ext cx="3429000" cy="868680"/>
          </a:xfrm>
          <a:prstGeom prst="roundRect">
            <a:avLst>
              <a:gd name="adj" fmla="val 10526"/>
            </a:avLst>
          </a:prstGeom>
          <a:solidFill>
            <a:srgbClr val="EAF1F6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480560"/>
            <a:ext cx="91440" cy="868680"/>
          </a:xfrm>
          <a:prstGeom prst="rect">
            <a:avLst/>
          </a:prstGeom>
          <a:solidFill>
            <a:srgbClr val="2BA199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45994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ผู้ผลิต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6112" y="495604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ผู้ผลิต/ผู้จำหน่ายไดร์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251960" y="4480560"/>
            <a:ext cx="3429000" cy="868680"/>
          </a:xfrm>
          <a:prstGeom prst="roundRect">
            <a:avLst>
              <a:gd name="adj" fmla="val 10526"/>
            </a:avLst>
          </a:prstGeom>
          <a:solidFill>
            <a:srgbClr val="EAF1F6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51960" y="4480560"/>
            <a:ext cx="91440" cy="868680"/>
          </a:xfrm>
          <a:prstGeom prst="rect">
            <a:avLst/>
          </a:prstGeom>
          <a:solidFill>
            <a:srgbClr val="2BA199"/>
          </a:solidFill>
          <a:ln/>
        </p:spPr>
      </p:sp>
      <p:sp>
        <p:nvSpPr>
          <p:cNvPr id="27" name="Text 25"/>
          <p:cNvSpPr/>
          <p:nvPr/>
        </p:nvSpPr>
        <p:spPr>
          <a:xfrm>
            <a:off x="4507992" y="45994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รายละเอียด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07992" y="495604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ข้อความบรรยายไดร์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863840" y="2377440"/>
            <a:ext cx="3703320" cy="3520440"/>
          </a:xfrm>
          <a:prstGeom prst="roundRect">
            <a:avLst>
              <a:gd name="adj" fmla="val 2597"/>
            </a:avLst>
          </a:prstGeom>
          <a:solidFill>
            <a:srgbClr val="16314A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092440" y="2560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9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ช่วยพิมพ์อัตโนมัติ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09244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พิมพ์ไม่กี่ตัว ระบบเดาให้: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138160" y="3520440"/>
            <a:ext cx="164592" cy="164592"/>
          </a:xfrm>
          <a:prstGeom prst="ellipse">
            <a:avLst/>
          </a:prstGeom>
          <a:solidFill>
            <a:srgbClr val="F2933D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0" y="34107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เลข Work Order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138160" y="3995928"/>
            <a:ext cx="164592" cy="164592"/>
          </a:xfrm>
          <a:prstGeom prst="ellipse">
            <a:avLst/>
          </a:prstGeom>
          <a:solidFill>
            <a:srgbClr val="F2933D"/>
          </a:solidFill>
          <a:ln/>
        </p:spPr>
      </p:sp>
      <p:sp>
        <p:nvSpPr>
          <p:cNvPr id="35" name="Text 33"/>
          <p:cNvSpPr/>
          <p:nvPr/>
        </p:nvSpPr>
        <p:spPr>
          <a:xfrm>
            <a:off x="8412480" y="3886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เลขไดร์ (Die)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138160" y="4471416"/>
            <a:ext cx="164592" cy="164592"/>
          </a:xfrm>
          <a:prstGeom prst="ellipse">
            <a:avLst/>
          </a:prstGeom>
          <a:solidFill>
            <a:srgbClr val="F2933D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0" y="43616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รายละเอียดไดร์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138160" y="4946904"/>
            <a:ext cx="164592" cy="164592"/>
          </a:xfrm>
          <a:prstGeom prst="ellipse">
            <a:avLst/>
          </a:prstGeom>
          <a:solidFill>
            <a:srgbClr val="F2933D"/>
          </a:solidFill>
          <a:ln/>
        </p:spPr>
      </p:sp>
      <p:sp>
        <p:nvSpPr>
          <p:cNvPr id="39" name="Text 37"/>
          <p:cNvSpPr/>
          <p:nvPr/>
        </p:nvSpPr>
        <p:spPr>
          <a:xfrm>
            <a:off x="8412480" y="483717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No. (วัตถุดิบ)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138160" y="5422392"/>
            <a:ext cx="164592" cy="164592"/>
          </a:xfrm>
          <a:prstGeom prst="ellipse">
            <a:avLst/>
          </a:prstGeom>
          <a:solidFill>
            <a:srgbClr val="F2933D"/>
          </a:solidFill>
          <a:ln/>
        </p:spPr>
      </p:sp>
      <p:sp>
        <p:nvSpPr>
          <p:cNvPr id="41" name="Text 39"/>
          <p:cNvSpPr/>
          <p:nvPr/>
        </p:nvSpPr>
        <p:spPr>
          <a:xfrm>
            <a:off x="8412480" y="531266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Coil No. (ม้วนลวด)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3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ประวัติไดร์รายตัว (Die Profile)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คลิกที่ไดร์ตัวใดก็ได้ เพื่อดูชีวิตทั้งหมดของไดร์ตัวนั้น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274C68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574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ดึงลวดไปแล้วกี่เมตร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9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เมตรสะสม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538728" y="182880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274C68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21608" y="20574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ช่วยผลิตงานกี่กิโล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21608" y="2697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A1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กก. ผลิตสะสม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37376" y="182880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274C68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0256" y="20574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ใช้กับใบสั่งผลิตกี่ใบ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0256" y="2697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6CC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จำนวน WO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336024" y="182880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274C68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518904" y="20574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ถูกเบิกไปกี่แผนก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518904" y="2697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C9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จำนวนแผนก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1F3F5C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3959352"/>
            <a:ext cx="457200" cy="457200"/>
          </a:xfrm>
          <a:prstGeom prst="ellipse">
            <a:avLst/>
          </a:prstGeom>
          <a:solidFill>
            <a:srgbClr val="2BA199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08760" y="382219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ตำแหน่งปัจจุบัน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42062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ไดร์อยู่ที่แผนกไหน / ส่งซ่อม / อยู่ในคลัง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36576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1F3F5C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3959352"/>
            <a:ext cx="457200" cy="457200"/>
          </a:xfrm>
          <a:prstGeom prst="ellipse">
            <a:avLst/>
          </a:prstGeom>
          <a:solidFill>
            <a:srgbClr val="2BA199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86600" y="382219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Timeline ประวัติการเคลื่อนไหว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86600" y="42062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ทุกครั้งที่เบิก–ใช้–คืน–ซ่อม เรียงตามเวลา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489204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1F3F5C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68680" y="5193792"/>
            <a:ext cx="457200" cy="457200"/>
          </a:xfrm>
          <a:prstGeom prst="ellipse">
            <a:avLst/>
          </a:prstGeom>
          <a:solidFill>
            <a:srgbClr val="2BA199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508760" y="505663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Lifecycle (กก. สะสมตามเวลา)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08760" y="54406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เส้นโค้งสะสมของงานที่ไดร์ช่วยผลิต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17920" y="489204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1F3F5C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46520" y="5193792"/>
            <a:ext cx="457200" cy="457200"/>
          </a:xfrm>
          <a:prstGeom prst="ellipse">
            <a:avLst/>
          </a:prstGeom>
          <a:solidFill>
            <a:srgbClr val="2BA199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086600" y="505663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สถานะสุขภาพ (Health)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86600" y="54406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ดูจากสถานะจริงของไดร์ (ใช้ได้/ซ่อม/ทิ้ง) ไม่มี limit สมมติ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วิเคราะห์ &amp; ค้นหาพิเศษ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วิดเจ็ตช่วยตัดสินใจ และเครื่องมือสืบย้อนกลับ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EAF1F6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3566160" cy="118872"/>
          </a:xfrm>
          <a:prstGeom prst="rect">
            <a:avLst/>
          </a:prstGeom>
          <a:solidFill>
            <a:srgbClr val="F293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แผนกใช้ไดร์สูงสุด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6334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29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Consumers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แผนกไหนเบิกไดร์มากสุดในช่วงเวลา + กก. ที่ผลิต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EAF1F6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828800"/>
            <a:ext cx="3566160" cy="118872"/>
          </a:xfrm>
          <a:prstGeom prst="rect">
            <a:avLst/>
          </a:prstGeom>
          <a:solidFill>
            <a:srgbClr val="2BA199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148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ไดร์ผลิตงานสูงสุด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26334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BA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Output Dies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09160" y="30175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อันดับไดร์ที่ช่วยผลิต กก. มากสุด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EAF1F6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828800"/>
            <a:ext cx="3566160" cy="118872"/>
          </a:xfrm>
          <a:prstGeom prst="rect">
            <a:avLst/>
          </a:prstGeom>
          <a:solidFill>
            <a:srgbClr val="274C68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148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ไดร์นิ่ง (ไม่ถูกใช้)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03920" y="26334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74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Dies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503920" y="30175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ไดร์ที่ไม่ถูกเบิกนานเกินกำหนด (เช่น 30 วัน)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EAF1F6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023360"/>
            <a:ext cx="3566160" cy="118872"/>
          </a:xfrm>
          <a:prstGeom prst="rect">
            <a:avLst/>
          </a:prstGeom>
          <a:solidFill>
            <a:srgbClr val="F2933D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343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ไดร์อยู่ที่ไหน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48280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29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Location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4400" y="521208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ตำแหน่งล่าสุดของไดร์แต่ละตัว กรองตามวันได้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34840" y="40233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EAF1F6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34840" y="4023360"/>
            <a:ext cx="3566160" cy="118872"/>
          </a:xfrm>
          <a:prstGeom prst="rect">
            <a:avLst/>
          </a:prstGeom>
          <a:solidFill>
            <a:srgbClr val="2BA199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4343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สืบจากวัตถุดิบ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09160" y="48280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BA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Trace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709160" y="521208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 Heat/Coil → ดูว่าใช้ไดร์ตัวไหนผลิต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229600" y="40233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EAF1F6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0" y="4023360"/>
            <a:ext cx="3566160" cy="118872"/>
          </a:xfrm>
          <a:prstGeom prst="rect">
            <a:avLst/>
          </a:prstGeom>
          <a:solidFill>
            <a:srgbClr val="274C68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343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เทียบช่วงเวลา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503920" y="48280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74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503920" y="521208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เทียบยอดช่วงนี้กับช่วงก่อนหน้า + % เปลี่ยนแปลง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ส่งออกข้อมูล &amp; เบื้องหลังระบบ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ใช้งานง่ายหน้าบ้าน ปลอดภัยและเร็วหลังบ้าน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16314A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822960" cy="822960"/>
          </a:xfrm>
          <a:prstGeom prst="ellipse">
            <a:avLst/>
          </a:prstGeom>
          <a:solidFill>
            <a:srgbClr val="F293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1945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ส่งออก Excel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ดาวน์โหลดข้อมูลทุกมุมมอง (WO / วันที่ / สัปดาห์)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96112" y="3803904"/>
            <a:ext cx="182880" cy="182880"/>
          </a:xfrm>
          <a:prstGeom prst="ellipse">
            <a:avLst/>
          </a:prstGeom>
          <a:solidFill>
            <a:srgbClr val="F2933D"/>
          </a:solidFill>
          <a:ln/>
        </p:spPr>
      </p:sp>
      <p:sp>
        <p:nvSpPr>
          <p:cNvPr id="10" name="Text 8"/>
          <p:cNvSpPr/>
          <p:nvPr/>
        </p:nvSpPr>
        <p:spPr>
          <a:xfrm>
            <a:off x="1207008" y="369417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เลือกมุมมองไหน ก็ส่งออกชุดนั้น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6112" y="4352544"/>
            <a:ext cx="182880" cy="182880"/>
          </a:xfrm>
          <a:prstGeom prst="ellipse">
            <a:avLst/>
          </a:prstGeom>
          <a:solidFill>
            <a:srgbClr val="F2933D"/>
          </a:solidFill>
          <a:ln/>
        </p:spPr>
      </p:sp>
      <p:sp>
        <p:nvSpPr>
          <p:cNvPr id="12" name="Text 10"/>
          <p:cNvSpPr/>
          <p:nvPr/>
        </p:nvSpPr>
        <p:spPr>
          <a:xfrm>
            <a:off x="1207008" y="424281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เติม กก. งานสำเร็จต่อ WO ให้อัตโนมัติ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6112" y="4901184"/>
            <a:ext cx="182880" cy="182880"/>
          </a:xfrm>
          <a:prstGeom prst="ellipse">
            <a:avLst/>
          </a:prstGeom>
          <a:solidFill>
            <a:srgbClr val="F2933D"/>
          </a:solidFill>
          <a:ln/>
        </p:spPr>
      </p:sp>
      <p:sp>
        <p:nvSpPr>
          <p:cNvPr id="14" name="Text 12"/>
          <p:cNvSpPr/>
          <p:nvPr/>
        </p:nvSpPr>
        <p:spPr>
          <a:xfrm>
            <a:off x="1207008" y="479145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รองรับทั้งโรงงาน W และ 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6112" y="5449824"/>
            <a:ext cx="182880" cy="182880"/>
          </a:xfrm>
          <a:prstGeom prst="ellipse">
            <a:avLst/>
          </a:prstGeom>
          <a:solidFill>
            <a:srgbClr val="F2933D"/>
          </a:solidFill>
          <a:ln/>
        </p:spPr>
      </p:sp>
      <p:sp>
        <p:nvSpPr>
          <p:cNvPr id="16" name="Text 14"/>
          <p:cNvSpPr/>
          <p:nvPr/>
        </p:nvSpPr>
        <p:spPr>
          <a:xfrm>
            <a:off x="1207008" y="534009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ตั้งชื่อไฟล์ตามวันเวลาอัตโนมัติ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1828800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EAF1F6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828800"/>
            <a:ext cx="109728" cy="914400"/>
          </a:xfrm>
          <a:prstGeom prst="rect">
            <a:avLst/>
          </a:prstGeom>
          <a:solidFill>
            <a:srgbClr val="2BA199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9476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จำกัดฐานข้อมูล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23042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ผู้ใช้เลือกได้เฉพาะโรงงาน W/P เท่านั้น ป้องกันชี้ไปฐานอื่น (เช่น ERP)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26480" y="2907792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EAF1F6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2907792"/>
            <a:ext cx="109728" cy="914400"/>
          </a:xfrm>
          <a:prstGeom prst="rect">
            <a:avLst/>
          </a:prstGeom>
          <a:solidFill>
            <a:srgbClr val="F2933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02666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แคชผลลัพธ์ 5 นาที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0" y="3383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query หนักถูกเก็บไว้ชั่วคราว เปิดซ้ำเร็วขึ้น ลดภาระฐานข้อมูล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0" y="3986784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EAF1F6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986784"/>
            <a:ext cx="109728" cy="914400"/>
          </a:xfrm>
          <a:prstGeom prst="rect">
            <a:avLst/>
          </a:prstGeom>
          <a:solidFill>
            <a:srgbClr val="274C6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410565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รองรับหลายโรงงาน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0" y="44622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ดูแยกโรงงาน หรือรวม W+P พร้อมกันก็ได้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26480" y="5065776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EAF1F6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5065776"/>
            <a:ext cx="109728" cy="914400"/>
          </a:xfrm>
          <a:prstGeom prst="rect">
            <a:avLst/>
          </a:prstGeom>
          <a:solidFill>
            <a:srgbClr val="2BA199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51846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แยกชั้นโค้ดชัดเจน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00800" y="554126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Service → Repository ไม่มี SQL ปนใน Controller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3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93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สรุปภาพรวมโมดูล Die Tracking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715768" cy="4480560"/>
          </a:xfrm>
          <a:prstGeom prst="roundRect">
            <a:avLst>
              <a:gd name="adj" fmla="val 3367"/>
            </a:avLst>
          </a:prstGeom>
          <a:solidFill>
            <a:srgbClr val="274C68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2715768" cy="548640"/>
          </a:xfrm>
          <a:prstGeom prst="rect">
            <a:avLst/>
          </a:prstGeom>
          <a:solidFill>
            <a:srgbClr val="F2933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24414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หน้าใช้งานหลัก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404872"/>
            <a:ext cx="146304" cy="146304"/>
          </a:xfrm>
          <a:prstGeom prst="ellipse">
            <a:avLst/>
          </a:prstGeom>
          <a:solidFill>
            <a:srgbClr val="F2933D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28600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 มุมมอง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319272"/>
            <a:ext cx="146304" cy="146304"/>
          </a:xfrm>
          <a:prstGeom prst="ellipse">
            <a:avLst/>
          </a:prstGeom>
          <a:solidFill>
            <a:srgbClr val="F2933D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0040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Detail (รายละเอียดงาน)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4233672"/>
            <a:ext cx="146304" cy="146304"/>
          </a:xfrm>
          <a:prstGeom prst="ellipse">
            <a:avLst/>
          </a:prstGeom>
          <a:solidFill>
            <a:srgbClr val="F2933D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11480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Profile (ประวัติไดร์)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5148072"/>
            <a:ext cx="146304" cy="146304"/>
          </a:xfrm>
          <a:prstGeom prst="ellipse">
            <a:avLst/>
          </a:prstGeom>
          <a:solidFill>
            <a:srgbClr val="F2933D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02920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Master (ทะเบียน)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557016" y="1554480"/>
            <a:ext cx="2715768" cy="4480560"/>
          </a:xfrm>
          <a:prstGeom prst="roundRect">
            <a:avLst>
              <a:gd name="adj" fmla="val 3367"/>
            </a:avLst>
          </a:prstGeom>
          <a:solidFill>
            <a:srgbClr val="274C68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57016" y="1554480"/>
            <a:ext cx="2715768" cy="548640"/>
          </a:xfrm>
          <a:prstGeom prst="rect">
            <a:avLst/>
          </a:prstGeom>
          <a:solidFill>
            <a:srgbClr val="2BA199"/>
          </a:solidFill>
          <a:ln/>
        </p:spPr>
      </p:sp>
      <p:sp>
        <p:nvSpPr>
          <p:cNvPr id="17" name="Text 15"/>
          <p:cNvSpPr/>
          <p:nvPr/>
        </p:nvSpPr>
        <p:spPr>
          <a:xfrm>
            <a:off x="3694176" y="1554480"/>
            <a:ext cx="24414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ค้นหา &amp; สืบย้อน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85616" y="2404872"/>
            <a:ext cx="146304" cy="146304"/>
          </a:xfrm>
          <a:prstGeom prst="ellipse">
            <a:avLst/>
          </a:prstGeom>
          <a:solidFill>
            <a:srgbClr val="2BA199"/>
          </a:solidFill>
          <a:ln/>
        </p:spPr>
      </p:sp>
      <p:sp>
        <p:nvSpPr>
          <p:cNvPr id="19" name="Text 17"/>
          <p:cNvSpPr/>
          <p:nvPr/>
        </p:nvSpPr>
        <p:spPr>
          <a:xfrm>
            <a:off x="4014216" y="228600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ค้นหา WO / วันที่ / สัปดาห์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785616" y="3319272"/>
            <a:ext cx="146304" cy="146304"/>
          </a:xfrm>
          <a:prstGeom prst="ellipse">
            <a:avLst/>
          </a:prstGeom>
          <a:solidFill>
            <a:srgbClr val="2BA199"/>
          </a:solidFill>
          <a:ln/>
        </p:spPr>
      </p:sp>
      <p:sp>
        <p:nvSpPr>
          <p:cNvPr id="21" name="Text 19"/>
          <p:cNvSpPr/>
          <p:nvPr/>
        </p:nvSpPr>
        <p:spPr>
          <a:xfrm>
            <a:off x="4014216" y="320040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เทียบช่วงเวลา (Compare)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785616" y="4233672"/>
            <a:ext cx="146304" cy="146304"/>
          </a:xfrm>
          <a:prstGeom prst="ellipse">
            <a:avLst/>
          </a:prstGeom>
          <a:solidFill>
            <a:srgbClr val="2BA199"/>
          </a:solidFill>
          <a:ln/>
        </p:spPr>
      </p:sp>
      <p:sp>
        <p:nvSpPr>
          <p:cNvPr id="23" name="Text 21"/>
          <p:cNvSpPr/>
          <p:nvPr/>
        </p:nvSpPr>
        <p:spPr>
          <a:xfrm>
            <a:off x="4014216" y="411480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สืบจากวัตถุดิบ (Material)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785616" y="5148072"/>
            <a:ext cx="146304" cy="146304"/>
          </a:xfrm>
          <a:prstGeom prst="ellipse">
            <a:avLst/>
          </a:prstGeom>
          <a:solidFill>
            <a:srgbClr val="2BA199"/>
          </a:solidFill>
          <a:ln/>
        </p:spPr>
      </p:sp>
      <p:sp>
        <p:nvSpPr>
          <p:cNvPr id="25" name="Text 23"/>
          <p:cNvSpPr/>
          <p:nvPr/>
        </p:nvSpPr>
        <p:spPr>
          <a:xfrm>
            <a:off x="4014216" y="502920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ช่วยพิมพ์อัตโนมัติ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73952" y="1554480"/>
            <a:ext cx="2715768" cy="4480560"/>
          </a:xfrm>
          <a:prstGeom prst="roundRect">
            <a:avLst>
              <a:gd name="adj" fmla="val 3367"/>
            </a:avLst>
          </a:prstGeom>
          <a:solidFill>
            <a:srgbClr val="274C68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73952" y="1554480"/>
            <a:ext cx="2715768" cy="548640"/>
          </a:xfrm>
          <a:prstGeom prst="rect">
            <a:avLst/>
          </a:prstGeom>
          <a:solidFill>
            <a:srgbClr val="56CCF2"/>
          </a:solidFill>
          <a:ln/>
        </p:spPr>
      </p:sp>
      <p:sp>
        <p:nvSpPr>
          <p:cNvPr id="28" name="Text 26"/>
          <p:cNvSpPr/>
          <p:nvPr/>
        </p:nvSpPr>
        <p:spPr>
          <a:xfrm>
            <a:off x="6611112" y="1554480"/>
            <a:ext cx="24414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วิเคราะห์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702552" y="2404872"/>
            <a:ext cx="146304" cy="146304"/>
          </a:xfrm>
          <a:prstGeom prst="ellipse">
            <a:avLst/>
          </a:prstGeom>
          <a:solidFill>
            <a:srgbClr val="56CCF2"/>
          </a:solidFill>
          <a:ln/>
        </p:spPr>
      </p:sp>
      <p:sp>
        <p:nvSpPr>
          <p:cNvPr id="30" name="Text 28"/>
          <p:cNvSpPr/>
          <p:nvPr/>
        </p:nvSpPr>
        <p:spPr>
          <a:xfrm>
            <a:off x="6931152" y="228600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แผนกใช้ไดร์สูงสุด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702552" y="3319272"/>
            <a:ext cx="146304" cy="146304"/>
          </a:xfrm>
          <a:prstGeom prst="ellipse">
            <a:avLst/>
          </a:prstGeom>
          <a:solidFill>
            <a:srgbClr val="56CCF2"/>
          </a:solidFill>
          <a:ln/>
        </p:spPr>
      </p:sp>
      <p:sp>
        <p:nvSpPr>
          <p:cNvPr id="32" name="Text 30"/>
          <p:cNvSpPr/>
          <p:nvPr/>
        </p:nvSpPr>
        <p:spPr>
          <a:xfrm>
            <a:off x="6931152" y="320040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ไดร์ผลิตงานสูงสุด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702552" y="4233672"/>
            <a:ext cx="146304" cy="146304"/>
          </a:xfrm>
          <a:prstGeom prst="ellipse">
            <a:avLst/>
          </a:prstGeom>
          <a:solidFill>
            <a:srgbClr val="56CCF2"/>
          </a:solidFill>
          <a:ln/>
        </p:spPr>
      </p:sp>
      <p:sp>
        <p:nvSpPr>
          <p:cNvPr id="34" name="Text 32"/>
          <p:cNvSpPr/>
          <p:nvPr/>
        </p:nvSpPr>
        <p:spPr>
          <a:xfrm>
            <a:off x="6931152" y="411480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ไดร์นิ่ง (Idle)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702552" y="5148072"/>
            <a:ext cx="146304" cy="146304"/>
          </a:xfrm>
          <a:prstGeom prst="ellipse">
            <a:avLst/>
          </a:prstGeom>
          <a:solidFill>
            <a:srgbClr val="56CCF2"/>
          </a:solidFill>
          <a:ln/>
        </p:spPr>
      </p:sp>
      <p:sp>
        <p:nvSpPr>
          <p:cNvPr id="36" name="Text 34"/>
          <p:cNvSpPr/>
          <p:nvPr/>
        </p:nvSpPr>
        <p:spPr>
          <a:xfrm>
            <a:off x="6931152" y="502920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ตำแหน่งปัจจุบัน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9390888" y="1554480"/>
            <a:ext cx="2715768" cy="4480560"/>
          </a:xfrm>
          <a:prstGeom prst="roundRect">
            <a:avLst>
              <a:gd name="adj" fmla="val 3367"/>
            </a:avLst>
          </a:prstGeom>
          <a:solidFill>
            <a:srgbClr val="274C68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390888" y="1554480"/>
            <a:ext cx="2715768" cy="548640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39" name="Text 37"/>
          <p:cNvSpPr/>
          <p:nvPr/>
        </p:nvSpPr>
        <p:spPr>
          <a:xfrm>
            <a:off x="9528048" y="1554480"/>
            <a:ext cx="24414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รองรับ &amp; ส่งออก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619488" y="2404872"/>
            <a:ext cx="146304" cy="146304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41" name="Text 39"/>
          <p:cNvSpPr/>
          <p:nvPr/>
        </p:nvSpPr>
        <p:spPr>
          <a:xfrm>
            <a:off x="9848088" y="228600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ตัวกรอง (หมวด/สถานะ/ผู้ผลิต)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9619488" y="3319272"/>
            <a:ext cx="146304" cy="146304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43" name="Text 41"/>
          <p:cNvSpPr/>
          <p:nvPr/>
        </p:nvSpPr>
        <p:spPr>
          <a:xfrm>
            <a:off x="9848088" y="320040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ส่งออก Excel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9619488" y="4233672"/>
            <a:ext cx="146304" cy="146304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45" name="Text 43"/>
          <p:cNvSpPr/>
          <p:nvPr/>
        </p:nvSpPr>
        <p:spPr>
          <a:xfrm>
            <a:off x="9848088" y="411480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แคช 5 นาที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9619488" y="5148072"/>
            <a:ext cx="146304" cy="146304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47" name="Text 45"/>
          <p:cNvSpPr/>
          <p:nvPr/>
        </p:nvSpPr>
        <p:spPr>
          <a:xfrm>
            <a:off x="9848088" y="502920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หลายโรงงาน W+P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เปิดที่เมนู  /die-tracking  ·  ข้อมูลจาก PostgreSQL โรงงาน W และ 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2026-06-22T01:25:18Z</dcterms:created>
  <dcterms:modified xsi:type="dcterms:W3CDTF">2026-06-22T01:25:18Z</dcterms:modified>
</cp:coreProperties>
</file>